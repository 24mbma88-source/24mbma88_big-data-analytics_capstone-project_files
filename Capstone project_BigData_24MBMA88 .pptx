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MT Bold" charset="1" panose="02030802070405020303"/>
      <p:regular r:id="rId12"/>
    </p:embeddedFont>
    <p:embeddedFont>
      <p:font typeface="Times New Roman MT" charset="1" panose="020305020704050203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embeddings/oleObject2.bin" Type="http://schemas.openxmlformats.org/officeDocument/2006/relationships/oleObject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365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2001" y="723900"/>
            <a:ext cx="15563999" cy="294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b="true" sz="79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Capstone Project:</a:t>
            </a:r>
          </a:p>
          <a:p>
            <a:pPr algn="l">
              <a:lnSpc>
                <a:spcPts val="11199"/>
              </a:lnSpc>
              <a:spcBef>
                <a:spcPct val="0"/>
              </a:spcBef>
            </a:pPr>
            <a:r>
              <a:rPr lang="en-US" b="true" sz="79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Big Data Analytics in Stock Market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0" y="5673725"/>
            <a:ext cx="8020348" cy="358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Student Name: PALTHYA GANESH</a:t>
            </a:r>
          </a:p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Roll no: 24MBMA88</a:t>
            </a:r>
          </a:p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MBA (Finance &amp; BA)</a:t>
            </a:r>
          </a:p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Course: Big Data Analytics</a:t>
            </a:r>
          </a:p>
          <a:p>
            <a:pPr algn="just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Industry: Stock Market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65B6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9283" y="2922912"/>
            <a:ext cx="9040561" cy="4441176"/>
          </a:xfrm>
          <a:custGeom>
            <a:avLst/>
            <a:gdLst/>
            <a:ahLst/>
            <a:cxnLst/>
            <a:rect r="r" b="b" t="t" l="l"/>
            <a:pathLst>
              <a:path h="4441176" w="9040561">
                <a:moveTo>
                  <a:pt x="0" y="0"/>
                </a:moveTo>
                <a:lnTo>
                  <a:pt x="9040561" y="0"/>
                </a:lnTo>
                <a:lnTo>
                  <a:pt x="9040561" y="4441176"/>
                </a:lnTo>
                <a:lnTo>
                  <a:pt x="0" y="444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84091" y="400151"/>
            <a:ext cx="11719818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Stock Price Prediction using Machine Learning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4269" y="1936216"/>
            <a:ext cx="6647613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 spc="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9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Predict the next-day closing price of stocks using historical trading data and machine learning.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4269" y="3356296"/>
            <a:ext cx="7745014" cy="163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 spc="9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Synthetic dataset (2023–2025) with 10 Indian companies: TCS, INFY, HDFC, RELIANCE, ICICI, SBIN, ITC, WIPRO, MARUTI, ADANIPORTS.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4955" y="5126676"/>
            <a:ext cx="6605290" cy="2437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preprocessing using PySpark &amp; Pandas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Features: Lag prices, volume, rolling returns, and </a:t>
            </a: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volatility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Model: RandomForest Regressor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Metrics: RMSE, MAE, R²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954" y="7621270"/>
            <a:ext cx="5187672" cy="163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Results: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RMSE = 26.48, MAE = 21.46, R² = -0.26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Top predictors: Volume_lag4, Close_lag1, RollingRet_mean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75622" y="7943733"/>
            <a:ext cx="10912378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7F7F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Short-term lagged prices and trading volume have strong influence on next-day price predictions.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81013" y="2044328"/>
            <a:ext cx="8547009" cy="5276470"/>
          </a:xfrm>
          <a:custGeom>
            <a:avLst/>
            <a:gdLst/>
            <a:ahLst/>
            <a:cxnLst/>
            <a:rect r="r" b="b" t="t" l="l"/>
            <a:pathLst>
              <a:path h="5276470" w="8547009">
                <a:moveTo>
                  <a:pt x="0" y="0"/>
                </a:moveTo>
                <a:lnTo>
                  <a:pt x="8547009" y="0"/>
                </a:lnTo>
                <a:lnTo>
                  <a:pt x="8547009" y="5276470"/>
                </a:lnTo>
                <a:lnTo>
                  <a:pt x="0" y="52764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71541" y="501332"/>
            <a:ext cx="9344918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Real-Time Market Sentiment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57595"/>
            <a:ext cx="7552313" cy="52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Analyze the relationship between investor sentiment and market performance.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Combined synthetic sentiment data with stock returns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Calculated average sentiment scores and corresponding daily returns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Compared positive vs negative sentiment periods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Findings: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Positive Sentiment (Avg ≈ +0.39) → Avg Return ≈ +0.21%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Negative Sentiment (Avg ≈ -0.40) → Avg Return ≈ -0.34%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23725"/>
            <a:ext cx="14457908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Investor sentiment shows a clear directional influence — bullish sentiment correlates with positive short-term returns.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750446" y="7033212"/>
          <a:ext cx="7543800" cy="1885950"/>
        </p:xfrm>
        <a:graphic>
          <a:graphicData uri="http://schemas.openxmlformats.org/presentationml/2006/ole">
            <p:oleObj imgW="9042400" imgH="3390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8748237" y="2157132"/>
            <a:ext cx="8161656" cy="5366289"/>
          </a:xfrm>
          <a:custGeom>
            <a:avLst/>
            <a:gdLst/>
            <a:ahLst/>
            <a:cxnLst/>
            <a:rect r="r" b="b" t="t" l="l"/>
            <a:pathLst>
              <a:path h="5366289" w="8161656">
                <a:moveTo>
                  <a:pt x="0" y="0"/>
                </a:moveTo>
                <a:lnTo>
                  <a:pt x="8161656" y="0"/>
                </a:lnTo>
                <a:lnTo>
                  <a:pt x="8161656" y="5366289"/>
                </a:lnTo>
                <a:lnTo>
                  <a:pt x="0" y="53662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1712" y="501332"/>
            <a:ext cx="12804577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Portfolio Risk Optimization (Mean-Variance Model)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88373" y="2061882"/>
            <a:ext cx="6885404" cy="4037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portfolio allocation for maximum returns and minimum risk using Big Data-driven simulations.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daily returns to calculate expected annual returns &amp; covariance matrix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Performed 5,000 Monte Carlo simulations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Identified Maximum Sharpe Ratio and Minimum Volatility portfolios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88373" y="6299237"/>
            <a:ext cx="1563737" cy="43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Metrics: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09822" y="7588545"/>
            <a:ext cx="10038486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Balanced diversification among IT and Banking sectors provides the most efficient risk-adjusted return.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1308317" y="7062767"/>
          <a:ext cx="9429750" cy="2514600"/>
        </p:xfrm>
        <a:graphic>
          <a:graphicData uri="http://schemas.openxmlformats.org/presentationml/2006/ole">
            <p:oleObj imgW="11315700" imgH="43942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3" id="3"/>
          <p:cNvSpPr/>
          <p:nvPr/>
        </p:nvSpPr>
        <p:spPr>
          <a:xfrm flipH="false" flipV="false" rot="0">
            <a:off x="9301929" y="2487279"/>
            <a:ext cx="7957371" cy="4575488"/>
          </a:xfrm>
          <a:custGeom>
            <a:avLst/>
            <a:gdLst/>
            <a:ahLst/>
            <a:cxnLst/>
            <a:rect r="r" b="b" t="t" l="l"/>
            <a:pathLst>
              <a:path h="4575488" w="7957371">
                <a:moveTo>
                  <a:pt x="0" y="0"/>
                </a:moveTo>
                <a:lnTo>
                  <a:pt x="7957371" y="0"/>
                </a:lnTo>
                <a:lnTo>
                  <a:pt x="7957371" y="4575488"/>
                </a:lnTo>
                <a:lnTo>
                  <a:pt x="0" y="4575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330452" y="501332"/>
            <a:ext cx="9627096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Algorithmic Trading Strategy Analytics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825287"/>
            <a:ext cx="7986057" cy="52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Backtest and evaluate two automated trading strategies using historical data.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Strategies: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7F7F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1.Momentum Strategy:</a:t>
            </a: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Go long if past 20-day return &gt; 0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7F7F7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Mean Reversion:</a:t>
            </a: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Go long if past 5-day return &lt; -2%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Applied vectorized backtesting using Pandas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Compared against an equal-weighted Buy &amp; Hold portfolio</a:t>
            </a:r>
          </a:p>
          <a:p>
            <a:pPr algn="l">
              <a:lnSpc>
                <a:spcPts val="3220"/>
              </a:lnSpc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Results Summary: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01929" y="7556689"/>
            <a:ext cx="7650048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Momentum outperforms Buy &amp; Hold in trending markets; Mean Reversion provides lower risk in range-bound periods.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45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75053" y="1884068"/>
            <a:ext cx="6877606" cy="3387221"/>
          </a:xfrm>
          <a:custGeom>
            <a:avLst/>
            <a:gdLst/>
            <a:ahLst/>
            <a:cxnLst/>
            <a:rect r="r" b="b" t="t" l="l"/>
            <a:pathLst>
              <a:path h="3387221" w="6877606">
                <a:moveTo>
                  <a:pt x="0" y="0"/>
                </a:moveTo>
                <a:lnTo>
                  <a:pt x="6877606" y="0"/>
                </a:lnTo>
                <a:lnTo>
                  <a:pt x="6877606" y="3387221"/>
                </a:lnTo>
                <a:lnTo>
                  <a:pt x="0" y="33872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75053" y="5538265"/>
            <a:ext cx="6877606" cy="2875705"/>
          </a:xfrm>
          <a:custGeom>
            <a:avLst/>
            <a:gdLst/>
            <a:ahLst/>
            <a:cxnLst/>
            <a:rect r="r" b="b" t="t" l="l"/>
            <a:pathLst>
              <a:path h="2875705" w="6877606">
                <a:moveTo>
                  <a:pt x="0" y="0"/>
                </a:moveTo>
                <a:lnTo>
                  <a:pt x="6877606" y="0"/>
                </a:lnTo>
                <a:lnTo>
                  <a:pt x="6877606" y="2875704"/>
                </a:lnTo>
                <a:lnTo>
                  <a:pt x="0" y="28757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57" t="0" r="0" b="-69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59571" y="501332"/>
            <a:ext cx="12768858" cy="873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</a:pPr>
            <a:r>
              <a:rPr lang="en-US" b="true" sz="4599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Volatility &amp; Anomaly Detection in Stock Movements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34133" y="1813801"/>
            <a:ext cx="8140920" cy="5237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Objective: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 abnormal price or volatility patterns to identify unusual market behavior.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Approach: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Calculated rolling z-score of returns (|z| &gt; 3)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Used Bollinger Bands and 20–50 day rolling volatility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Flagged volatility spikes and outlier returns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Findings: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~2–3% of trading days showed anomalies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Detected several high-volatility spikes aligned with market sentiment changes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34133" y="7176989"/>
            <a:ext cx="7672381" cy="123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FFDE5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Insight:</a:t>
            </a:r>
          </a:p>
          <a:p>
            <a:pPr algn="l">
              <a:lnSpc>
                <a:spcPts val="3220"/>
              </a:lnSpc>
              <a:spcBef>
                <a:spcPct val="0"/>
              </a:spcBef>
            </a:pPr>
            <a:r>
              <a:rPr lang="en-US" sz="2300">
                <a:solidFill>
                  <a:srgbClr val="F7F7F7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Combining z-score, Bollinger Bands, and volatility indicators effectively identifies early warning signs of market shifts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0855" y="8756869"/>
            <a:ext cx="3946291" cy="1396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251"/>
              </a:lnSpc>
              <a:spcBef>
                <a:spcPct val="0"/>
              </a:spcBef>
            </a:pPr>
            <a:r>
              <a:rPr lang="en-US" b="true" sz="7322">
                <a:solidFill>
                  <a:srgbClr val="D9D9D9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DAG4UcsbMMo</dc:identifier>
  <dcterms:modified xsi:type="dcterms:W3CDTF">2011-08-01T06:04:30Z</dcterms:modified>
  <cp:revision>1</cp:revision>
  <dc:title>Stock Price Prediction using Machine Learning</dc:title>
</cp:coreProperties>
</file>